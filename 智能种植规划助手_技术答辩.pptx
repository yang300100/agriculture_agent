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2" r:id="rId14"/>
    <p:sldId id="268" r:id="rId15"/>
    <p:sldId id="269" r:id="rId16"/>
    <p:sldId id="270" r:id="rId17"/>
    <p:sldId id="271" r:id="rId18"/>
    <p:sldId id="272" r:id="rId19"/>
    <p:sldId id="276" r:id="rId20"/>
    <p:sldId id="278" r:id="rId21"/>
    <p:sldId id="279" r:id="rId22"/>
    <p:sldId id="280" r:id="rId23"/>
    <p:sldId id="281" r:id="rId24"/>
    <p:sldId id="273" r:id="rId25"/>
    <p:sldId id="274" r:id="rId26"/>
    <p:sldId id="275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E0DC"/>
    <a:srgbClr val="E2DCD2"/>
    <a:srgbClr val="336F34"/>
    <a:srgbClr val="66BA68"/>
    <a:srgbClr val="D4A853"/>
    <a:srgbClr val="B2DCB3"/>
    <a:srgbClr val="F7F8F4"/>
    <a:srgbClr val="F5EBD7"/>
    <a:srgbClr val="EBD7A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78" y="2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4074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ABFFE-CC37-8ECC-76C1-7913619CC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B711F-DAC1-CF04-3297-F2A79E6A0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80A0A-00DE-C33B-B2CE-5793FCF9A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D5D44-7B38-F90A-16D2-49A72BED87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225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B8CE3-6160-367B-F962-05FC84E82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83CC58-2271-2E8A-75D5-93D9E5735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5DA40-03E7-6142-E541-9ECDC4095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69E15-5E28-E847-D8A8-3E5155336D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5896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9639A-353B-5397-BFF4-735D34058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3DBAA-500A-C886-6E73-720DD1769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1EA96-C7CA-DAF1-221A-5B3869800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8851A-077B-7D5C-BA38-036B072EE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750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0924A-D31F-5C70-43F6-A14BA7899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E482BE-1495-1906-46F5-018F32C0A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6E646-970C-7CBA-14C7-50CBA91A9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D7D3D-9706-3606-CE13-EF10583C1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382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DBC44-7ACC-00FF-F0DD-79725DAE1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8ACF77-C8CD-D0A5-E28A-F75ED8509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5252D2-24EC-ECF2-9341-CE63BCE04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39ADF-832B-F5C4-8D72-05E90DF70D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7319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59D16-A5BC-414C-017F-BE3B6CB61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C3C3E7-ED99-7961-A1A4-4CE890901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16DBA6-0876-6579-7A67-B906A2BE1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A6EAD-D25D-977C-B23A-1C6099B51C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7913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731520" y="3657600"/>
            <a:ext cx="2560320" cy="256032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智能种植助手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LangGraph 的软硬件协同智能农业系统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371600" cy="36576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杨嘉琪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6 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737360" cy="347472"/>
          </a:xfrm>
          <a:prstGeom prst="rect">
            <a:avLst/>
          </a:prstGeom>
          <a:solidFill>
            <a:srgbClr val="2C5F2D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多Agent协同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4114800"/>
            <a:ext cx="1737360" cy="347472"/>
          </a:xfrm>
          <a:prstGeom prst="rect">
            <a:avLst/>
          </a:prstGeom>
          <a:solidFill>
            <a:srgbClr val="2C5F2D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697480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软硬件联动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4114800"/>
            <a:ext cx="1737360" cy="347472"/>
          </a:xfrm>
          <a:prstGeom prst="rect">
            <a:avLst/>
          </a:prstGeom>
          <a:solidFill>
            <a:srgbClr val="2C5F2D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663440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LLM自主决策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4114800"/>
            <a:ext cx="1737360" cy="347472"/>
          </a:xfrm>
          <a:prstGeom prst="rect">
            <a:avLst/>
          </a:prstGeom>
          <a:solidFill>
            <a:srgbClr val="2C5F2D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629400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长记忆持久化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965960" cy="457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意图识别类型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覆盖种植全场景，精准分类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42032" y="141732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2542032" y="1417320"/>
            <a:ext cx="1965960" cy="457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2542032" y="16002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542032" y="2194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专业智能体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33472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协同，并行高效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18304" y="141732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718304" y="1417320"/>
            <a:ext cx="1965960" cy="457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718304" y="16002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718304" y="2194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结构化作物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9744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知识库精准语义检索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94576" y="141732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894576" y="1417320"/>
            <a:ext cx="1965960" cy="457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894576" y="16002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</a:t>
            </a:r>
            <a:r>
              <a:rPr lang="en-US" altLang="zh-CN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94576" y="2194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端到端响应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86016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意图分类→决策→执行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技术栈：LangChain + LangGraph + FastAPI + Streamlit + FAISS + MQTT + Vision Model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4069080"/>
            <a:ext cx="1691640" cy="3657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14400" y="4069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多Agent协同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80360" y="4069080"/>
            <a:ext cx="1691640" cy="3657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2880360" y="4069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软硬件联动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4069080"/>
            <a:ext cx="1691640" cy="3657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846320" y="4069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LLM自主决策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12280" y="4069080"/>
            <a:ext cx="1691640" cy="3657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812280" y="4069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长记忆持久化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系统全景架构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五层架构设计 · 自上而下解耦 · 层间清晰数据流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7772400" cy="658368"/>
          </a:xfrm>
          <a:prstGeom prst="rect">
            <a:avLst/>
          </a:prstGeom>
          <a:solidFill>
            <a:srgbClr val="1A3C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60120" y="1472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用户层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783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UI · 对话交互 · 可视化面板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20756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2185416"/>
            <a:ext cx="7772400" cy="658368"/>
          </a:xfrm>
          <a:prstGeom prst="rect">
            <a:avLst/>
          </a:prstGeom>
          <a:solidFill>
            <a:srgbClr val="1E5A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6012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网关层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25511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· 请求路由 · 会话管理 · WebSocket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28437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2953512"/>
            <a:ext cx="7772400" cy="658368"/>
          </a:xfrm>
          <a:prstGeom prst="rect">
            <a:avLst/>
          </a:prstGeom>
          <a:solidFill>
            <a:srgbClr val="2C5F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60120" y="3008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编排层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33192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调度中心 · 7 个专业 Agent · 任务分解与并行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3611880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3721608"/>
            <a:ext cx="7772400" cy="658368"/>
          </a:xfrm>
          <a:prstGeom prst="rect">
            <a:avLst/>
          </a:prstGeom>
          <a:solidFill>
            <a:srgbClr val="3D7A3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60120" y="3776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 &amp; 记忆层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4087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双索引 · 长记忆持久化 · RAG 增强检索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0" y="437997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489704"/>
            <a:ext cx="7772400" cy="658368"/>
          </a:xfrm>
          <a:prstGeom prst="rect">
            <a:avLst/>
          </a:prstGeom>
          <a:solidFill>
            <a:srgbClr val="5B8C5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60120" y="4544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设备集成层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48554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协议 · IoT 设备控制 · 摄像头巡检 · 传感器监控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7160" y="1417320"/>
            <a:ext cx="320040" cy="3794760"/>
          </a:xfrm>
          <a:prstGeom prst="rect">
            <a:avLst/>
          </a:prstGeom>
          <a:solidFill>
            <a:srgbClr val="D4A853">
              <a:alpha val="7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37160" y="265176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据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技术栈与选型理由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核心框架对比与选型决策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290779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层级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选型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对比方案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选型理由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Agent编排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AutoGPT / CrewAI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有向图状态管理，复杂分支与并行，可控性强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后端框架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/ Django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异步高性能，自动API文档，WebSocket原生支持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向量检索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 / Pinecone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Facebook开源，本地部署，十亿级向量毫秒检索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前端展示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Gradio / React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纯Python快速搭建，组件丰富，数据驱动型应用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设备通信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/ CoAP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发布/订阅模式，低带宽高可靠，IoT领域标准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多模态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传统CNN分类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通用视觉理解，零样本迁移，作物/病害泛化强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2176272"/>
            <a:ext cx="8412480" cy="420624"/>
          </a:xfrm>
          <a:prstGeom prst="rect">
            <a:avLst/>
          </a:prstGeom>
          <a:solidFill>
            <a:srgbClr val="F0F4EE">
              <a:alpha val="5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365760" y="3017520"/>
            <a:ext cx="8412480" cy="420624"/>
          </a:xfrm>
          <a:prstGeom prst="rect">
            <a:avLst/>
          </a:prstGeom>
          <a:solidFill>
            <a:srgbClr val="F0F4EE">
              <a:alpha val="5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365760" y="3858768"/>
            <a:ext cx="8412480" cy="420624"/>
          </a:xfrm>
          <a:prstGeom prst="rect">
            <a:avLst/>
          </a:prstGeom>
          <a:solidFill>
            <a:srgbClr val="F0F4EE">
              <a:alpha val="5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选型原则：优先开源可自部署 → 生态成熟度 → 与 Python/LangChain 集成便利性 → 异步性能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编排引擎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统一调度 · 7 个专业 Agent 协同 · 任务并行执行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36471" y="2468880"/>
            <a:ext cx="1554480" cy="914400"/>
          </a:xfrm>
          <a:prstGeom prst="ellipse">
            <a:avLst/>
          </a:prstGeom>
          <a:solidFill>
            <a:srgbClr val="1A3C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3429000" y="24688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调度引擎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166" y="1613285"/>
            <a:ext cx="1645920" cy="658368"/>
          </a:xfrm>
          <a:prstGeom prst="rect">
            <a:avLst/>
          </a:prstGeom>
          <a:solidFill>
            <a:srgbClr val="F0F4E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856366" y="1608026"/>
            <a:ext cx="45720" cy="658368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93326" y="1668149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种植规划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326" y="1942469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作物·时间·轮作·方案对比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87744" y="1973729"/>
            <a:ext cx="1586976" cy="815849"/>
          </a:xfrm>
          <a:prstGeom prst="line">
            <a:avLst/>
          </a:prstGeom>
          <a:noFill/>
          <a:ln w="7620">
            <a:solidFill>
              <a:srgbClr val="97BC62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33263" y="3085413"/>
            <a:ext cx="1645920" cy="658368"/>
          </a:xfrm>
          <a:prstGeom prst="rect">
            <a:avLst/>
          </a:prstGeom>
          <a:solidFill>
            <a:srgbClr val="F0F4E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924050" y="3080154"/>
            <a:ext cx="45720" cy="658368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70423" y="3140277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病虫害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423" y="3414597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图像·症状·多模态·防治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 flipV="1">
            <a:off x="1969770" y="3086427"/>
            <a:ext cx="1507340" cy="376938"/>
          </a:xfrm>
          <a:prstGeom prst="line">
            <a:avLst/>
          </a:prstGeom>
          <a:noFill/>
          <a:ln w="7620">
            <a:solidFill>
              <a:srgbClr val="97BC62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771900" y="1231331"/>
            <a:ext cx="1645920" cy="658368"/>
          </a:xfrm>
          <a:prstGeom prst="rect">
            <a:avLst/>
          </a:prstGeom>
          <a:solidFill>
            <a:srgbClr val="F0F4E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771900" y="1231331"/>
            <a:ext cx="45720" cy="658368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909060" y="1286195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设备控制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09060" y="1560515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IoT·巡检·同步·双模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771900" y="1503557"/>
            <a:ext cx="199466" cy="965323"/>
          </a:xfrm>
          <a:prstGeom prst="line">
            <a:avLst/>
          </a:prstGeom>
          <a:noFill/>
          <a:ln w="7620">
            <a:solidFill>
              <a:srgbClr val="97BC62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599069" y="1448693"/>
            <a:ext cx="1645920" cy="658368"/>
          </a:xfrm>
          <a:prstGeom prst="rect">
            <a:avLst/>
          </a:prstGeom>
          <a:solidFill>
            <a:srgbClr val="F0F4E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599069" y="1448693"/>
            <a:ext cx="45720" cy="658368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736229" y="1503557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财务分析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36229" y="1777877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成本·收益·补贴·风险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 flipH="1">
            <a:off x="4709159" y="1777877"/>
            <a:ext cx="1889909" cy="768096"/>
          </a:xfrm>
          <a:prstGeom prst="line">
            <a:avLst/>
          </a:prstGeom>
          <a:noFill/>
          <a:ln w="7620">
            <a:solidFill>
              <a:srgbClr val="97BC62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507629" y="2601679"/>
            <a:ext cx="1645920" cy="658368"/>
          </a:xfrm>
          <a:prstGeom prst="rect">
            <a:avLst/>
          </a:prstGeom>
          <a:solidFill>
            <a:srgbClr val="F0F4E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507629" y="2601679"/>
            <a:ext cx="45720" cy="658368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644789" y="2656543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天气服务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44789" y="2930863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实时·预报·预警·建议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 flipH="1" flipV="1">
            <a:off x="4983480" y="2875155"/>
            <a:ext cx="1516678" cy="19131"/>
          </a:xfrm>
          <a:prstGeom prst="line">
            <a:avLst/>
          </a:prstGeom>
          <a:noFill/>
          <a:ln w="7620">
            <a:solidFill>
              <a:srgbClr val="97BC62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2631290" y="3990396"/>
            <a:ext cx="1645920" cy="658368"/>
          </a:xfrm>
          <a:prstGeom prst="rect">
            <a:avLst/>
          </a:prstGeom>
          <a:solidFill>
            <a:srgbClr val="F0F4E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205790" y="3990396"/>
            <a:ext cx="45720" cy="658368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2768450" y="40452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农事提醒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68450" y="43195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调度·SMS·进度·频率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 flipV="1">
            <a:off x="4214755" y="3383280"/>
            <a:ext cx="0" cy="1106424"/>
          </a:xfrm>
          <a:prstGeom prst="line">
            <a:avLst/>
          </a:prstGeom>
          <a:noFill/>
          <a:ln w="7620">
            <a:solidFill>
              <a:srgbClr val="97BC62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5943600" y="3730872"/>
            <a:ext cx="1645920" cy="658368"/>
          </a:xfrm>
          <a:prstGeom prst="rect">
            <a:avLst/>
          </a:prstGeom>
          <a:solidFill>
            <a:srgbClr val="F0F4E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5943600" y="3730872"/>
            <a:ext cx="45720" cy="658368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080760" y="37857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知识检索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080760" y="40600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FAISS·语义·RAG·fallback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766560" y="4060056"/>
            <a:ext cx="0" cy="0"/>
          </a:xfrm>
          <a:prstGeom prst="line">
            <a:avLst/>
          </a:prstGeom>
          <a:noFill/>
          <a:ln w="7620">
            <a:solidFill>
              <a:srgbClr val="97BC62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36">
            <a:extLst>
              <a:ext uri="{FF2B5EF4-FFF2-40B4-BE49-F238E27FC236}">
                <a16:creationId xmlns:a16="http://schemas.microsoft.com/office/drawing/2014/main" id="{FC2736FB-99FB-B893-08C7-0959F8DE92E2}"/>
              </a:ext>
            </a:extLst>
          </p:cNvPr>
          <p:cNvSpPr/>
          <p:nvPr/>
        </p:nvSpPr>
        <p:spPr>
          <a:xfrm flipH="1" flipV="1">
            <a:off x="4754435" y="3242058"/>
            <a:ext cx="1189163" cy="893660"/>
          </a:xfrm>
          <a:prstGeom prst="line">
            <a:avLst/>
          </a:prstGeom>
          <a:noFill/>
          <a:ln w="7620">
            <a:solidFill>
              <a:srgbClr val="97BC62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意图分类三级降级策略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种意图 · 100% 覆盖 · 从快到准的分层识别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7955280" cy="868680"/>
          </a:xfrm>
          <a:prstGeom prst="rect">
            <a:avLst/>
          </a:prstGeom>
          <a:solidFill>
            <a:srgbClr val="1A3C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第一级 · 关键词快速路径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19781" y="14996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 70%  ·  耗时 &lt; 10ms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874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预定义关键词字典 → 精确匹配 → 意图直接命中 · 支持并行多意图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51960" y="22585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2478024"/>
            <a:ext cx="6766560" cy="868680"/>
          </a:xfrm>
          <a:prstGeom prst="rect">
            <a:avLst/>
          </a:prstGeom>
          <a:solidFill>
            <a:srgbClr val="2C5F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569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第二级 · LLM 推理分类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85240" y="2553567"/>
            <a:ext cx="1634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 25%  ·  耗时 ~ 800ms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93522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送入大模型 → 语义理解 → 上下文感知分类 · 复合意图自动拆分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51960" y="33101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8096" y="3511296"/>
            <a:ext cx="5577840" cy="868680"/>
          </a:xfrm>
          <a:prstGeom prst="rect">
            <a:avLst/>
          </a:prstGeom>
          <a:solidFill>
            <a:srgbClr val="5B8C5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96696" y="36027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第三级 · 关键词兜底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94754" y="3584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 5%  ·  耗时 &lt; 5ms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96696" y="39684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超时 / 失败 → 自动回退关键词匹配 → 保底意图 · 3s 超时阈值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首级命中率 70% 保证响应速度 · 三级兜底 100% 意图覆盖 · LLM 超时 3s 自动降级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自主决策引擎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独立完成分析 → 推理 → 评估 → 决策全流程闭环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703320" y="1335888"/>
            <a:ext cx="1737360" cy="822960"/>
          </a:xfrm>
          <a:prstGeom prst="rect">
            <a:avLst/>
          </a:prstGeom>
          <a:solidFill>
            <a:srgbClr val="F0F4E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776472" y="1427328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776472" y="142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60520" y="1409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任务分解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13048" y="172908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用户意图→子任务拆分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依赖分析·并行评估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732596" y="2458287"/>
            <a:ext cx="1737360" cy="822960"/>
          </a:xfrm>
          <a:prstGeom prst="rect">
            <a:avLst/>
          </a:prstGeom>
          <a:solidFill>
            <a:srgbClr val="F0F4E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805748" y="2549727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805748" y="25497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9796" y="2531439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方案生成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42324" y="2851479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多候选方案并行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参数配置·知识增强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94887" y="3868776"/>
            <a:ext cx="1737360" cy="822960"/>
          </a:xfrm>
          <a:prstGeom prst="rect">
            <a:avLst/>
          </a:prstGeom>
          <a:solidFill>
            <a:srgbClr val="F0F4E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968039" y="3960216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968039" y="3960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52087" y="39419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多维评分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04615" y="426196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价格·产量·风险·适应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加权矩阵自动对比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763567" y="4280256"/>
            <a:ext cx="0" cy="0"/>
          </a:xfrm>
          <a:prstGeom prst="line">
            <a:avLst/>
          </a:prstGeom>
          <a:noFill/>
          <a:ln w="15240">
            <a:solidFill>
              <a:srgbClr val="D4A853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2268404" y="3868776"/>
            <a:ext cx="1737360" cy="822960"/>
          </a:xfrm>
          <a:prstGeom prst="rect">
            <a:avLst/>
          </a:prstGeom>
          <a:solidFill>
            <a:srgbClr val="D4A853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2341556" y="3960216"/>
            <a:ext cx="274320" cy="274320"/>
          </a:xfrm>
          <a:prstGeom prst="ellipse">
            <a:avLst/>
          </a:prstGeom>
          <a:solidFill>
            <a:srgbClr val="1A3C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2341556" y="3960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25604" y="39419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自主决策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378132" y="426196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低风险 auto_execute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高风险 need_confirm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37084" y="4280256"/>
            <a:ext cx="0" cy="0"/>
          </a:xfrm>
          <a:prstGeom prst="line">
            <a:avLst/>
          </a:prstGeom>
          <a:noFill/>
          <a:ln w="15240">
            <a:solidFill>
              <a:srgbClr val="D4A853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692332" y="2504007"/>
            <a:ext cx="1737360" cy="822960"/>
          </a:xfrm>
          <a:prstGeom prst="rect">
            <a:avLst/>
          </a:prstGeom>
          <a:solidFill>
            <a:srgbClr val="F0F4E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765484" y="2595447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765484" y="25954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49532" y="2577159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执行反馈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802060" y="2897199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决策全量写入日志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结果回传·持续优化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069080" y="2606040"/>
            <a:ext cx="1005840" cy="640080"/>
          </a:xfrm>
          <a:prstGeom prst="ellipse">
            <a:avLst/>
          </a:prstGeom>
          <a:solidFill>
            <a:srgbClr val="1A3C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4069080" y="26060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决策核心</a:t>
            </a:r>
            <a:endParaRPr lang="en-US" sz="1000" dirty="0"/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311299D9-B9B6-E7F9-CC0F-15794AD1D4A9}"/>
              </a:ext>
            </a:extLst>
          </p:cNvPr>
          <p:cNvCxnSpPr>
            <a:cxnSpLocks/>
            <a:stCxn id="13" idx="2"/>
            <a:endCxn id="19" idx="0"/>
          </p:cNvCxnSpPr>
          <p:nvPr/>
        </p:nvCxnSpPr>
        <p:spPr>
          <a:xfrm flipH="1">
            <a:off x="5763567" y="3281247"/>
            <a:ext cx="837709" cy="587529"/>
          </a:xfrm>
          <a:prstGeom prst="straightConnector1">
            <a:avLst/>
          </a:prstGeom>
          <a:ln w="38100">
            <a:solidFill>
              <a:srgbClr val="D4A85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0CA1420D-FDC0-2A4B-8D06-07D2197C8FB3}"/>
              </a:ext>
            </a:extLst>
          </p:cNvPr>
          <p:cNvCxnSpPr>
            <a:cxnSpLocks/>
            <a:stCxn id="19" idx="1"/>
            <a:endCxn id="25" idx="3"/>
          </p:cNvCxnSpPr>
          <p:nvPr/>
        </p:nvCxnSpPr>
        <p:spPr>
          <a:xfrm flipH="1">
            <a:off x="4005764" y="4280256"/>
            <a:ext cx="889123" cy="0"/>
          </a:xfrm>
          <a:prstGeom prst="straightConnector1">
            <a:avLst/>
          </a:prstGeom>
          <a:ln w="38100">
            <a:solidFill>
              <a:srgbClr val="D4A85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C5F7CC54-B5A4-98E1-EEF5-0B522030D06B}"/>
              </a:ext>
            </a:extLst>
          </p:cNvPr>
          <p:cNvCxnSpPr>
            <a:cxnSpLocks/>
            <a:stCxn id="25" idx="0"/>
            <a:endCxn id="31" idx="2"/>
          </p:cNvCxnSpPr>
          <p:nvPr/>
        </p:nvCxnSpPr>
        <p:spPr>
          <a:xfrm flipH="1" flipV="1">
            <a:off x="2561012" y="3326967"/>
            <a:ext cx="576072" cy="541809"/>
          </a:xfrm>
          <a:prstGeom prst="straightConnector1">
            <a:avLst/>
          </a:prstGeom>
          <a:ln w="38100">
            <a:solidFill>
              <a:srgbClr val="D4A85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74AC3BEE-3A63-1D45-097F-8E20214DA0A1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5352087" y="1714473"/>
            <a:ext cx="1249189" cy="743814"/>
          </a:xfrm>
          <a:prstGeom prst="straightConnector1">
            <a:avLst/>
          </a:prstGeom>
          <a:ln w="38100">
            <a:solidFill>
              <a:srgbClr val="D4A85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种植向导 — 三步一键生成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驱动 · 端到端种植规划 · 全程无需人工干预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2606040" cy="5943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276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信息收集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选择作物品种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确定种植地块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设定产量目标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分析土壤气候条件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71800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291840" y="141732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291840" y="1417320"/>
            <a:ext cx="2606040" cy="5943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291840" y="14173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16276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计划生成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91840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520440" y="2743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生成种植计划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时间表 + 任务列表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资源需求估算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风险评估分析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172200" y="141732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172200" y="1417320"/>
            <a:ext cx="2606040" cy="5943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172200" y="14173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72200" y="16276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72200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400800" y="2743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自动创建进度跟踪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生成农事提醒任务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设备联动配置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产量预估报告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自动适配地区、土壤、气候条件 · 支持生长阶段自动推进 · 多年轮作规划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多方案对比评分系统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自动生成多套方案 · 四维加权矩阵 · 智能优选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572000" cy="658368"/>
          </a:xfrm>
          <a:prstGeom prst="rect">
            <a:avLst/>
          </a:prstGeom>
          <a:solidFill>
            <a:srgbClr val="F0F4E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" cy="658368"/>
          </a:xfrm>
          <a:prstGeom prst="rect">
            <a:avLst/>
          </a:prstGeom>
          <a:solidFill>
            <a:srgbClr val="1A3C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价格收益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7190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市场价 · 亩产值 · 净收益预估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1371600" cy="457200"/>
          </a:xfrm>
          <a:prstGeom prst="rect">
            <a:avLst/>
          </a:prstGeom>
          <a:solidFill>
            <a:srgbClr val="F5EBD7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47472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 35%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4572000" cy="658368"/>
          </a:xfrm>
          <a:prstGeom prst="rect">
            <a:avLst/>
          </a:prstGeom>
          <a:solidFill>
            <a:srgbClr val="F0F4E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54864" cy="658368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85800" y="2194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产量预估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2496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历史产量 · 气候修正 · 土壤肥力系数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2240280"/>
            <a:ext cx="1371600" cy="457200"/>
          </a:xfrm>
          <a:prstGeom prst="rect">
            <a:avLst/>
          </a:prstGeom>
          <a:solidFill>
            <a:srgbClr val="F5EBD7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47472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 30%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4572000" cy="658368"/>
          </a:xfrm>
          <a:prstGeom prst="rect">
            <a:avLst/>
          </a:prstGeom>
          <a:solidFill>
            <a:srgbClr val="F0F4E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54864" cy="658368"/>
          </a:xfrm>
          <a:prstGeom prst="rect">
            <a:avLst/>
          </a:prstGeom>
          <a:solidFill>
            <a:srgbClr val="5B8C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85800" y="2971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风险评估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2735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病虫害概率 · 极端天气 · 市场波动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3017520"/>
            <a:ext cx="1371600" cy="457200"/>
          </a:xfrm>
          <a:prstGeom prst="rect">
            <a:avLst/>
          </a:prstGeom>
          <a:solidFill>
            <a:srgbClr val="F5EBD7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47472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 20%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4572000" cy="658368"/>
          </a:xfrm>
          <a:prstGeom prst="rect">
            <a:avLst/>
          </a:prstGeom>
          <a:solidFill>
            <a:srgbClr val="F0F4E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54864" cy="658368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85800" y="3749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环境适应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4050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土壤匹配度 · 温湿度适宜 · 降水需求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0" y="3794760"/>
            <a:ext cx="1371600" cy="457200"/>
          </a:xfrm>
          <a:prstGeom prst="rect">
            <a:avLst/>
          </a:prstGeom>
          <a:solidFill>
            <a:srgbClr val="F5EBD7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47472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 15%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方案排名示例</a:t>
            </a:r>
            <a:endParaRPr lang="en-US" sz="1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828800"/>
          <a:ext cx="3200400" cy="170992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综合分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D: 轮作方案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小麦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玉米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大豆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548640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根据偏好调整权重 · 可解释推荐理由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病虫害诊断全链路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 Vision 模型 × 症状语义匹配 × 精准防治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1920240" cy="438912"/>
          </a:xfrm>
          <a:prstGeom prst="rect">
            <a:avLst/>
          </a:prstGeom>
          <a:solidFill>
            <a:srgbClr val="1A3C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图片上传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用户拍照上传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摄像头巡检抓拍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514600" y="14173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2514600" y="1417320"/>
            <a:ext cx="1920240" cy="43891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2514600" y="14173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分析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2011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识别作物类型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判断生长阶段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检测病虫害类型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09160" y="14173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709160" y="1417320"/>
            <a:ext cx="1920240" cy="438912"/>
          </a:xfrm>
          <a:prstGeom prst="rect">
            <a:avLst/>
          </a:prstGeom>
          <a:solidFill>
            <a:srgbClr val="5B8C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709160" y="14173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语义增强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文字描述解析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20+症状关键词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精准匹配病症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903720" y="14173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903720" y="1417320"/>
            <a:ext cx="1920240" cy="438912"/>
          </a:xfrm>
          <a:prstGeom prst="rect">
            <a:avLst/>
          </a:prstGeom>
          <a:solidFill>
            <a:srgbClr val="6A9E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903720" y="14173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防治方案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2011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生成方案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农药推荐+用量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预防措施建议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核心优势：Vision 零样本泛化 · 图像+文字双模态融合诊断 · 自动匹配知识库防治方案 · 摄像头无人值守巡检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生长阶段自动推进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智能时间驱动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生长阶段自动推进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199" y="1828800"/>
            <a:ext cx="7703671" cy="384048"/>
          </a:xfrm>
          <a:prstGeom prst="rect">
            <a:avLst/>
          </a:prstGeom>
          <a:solidFill>
            <a:srgbClr val="1A3C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23844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播种期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828800"/>
            <a:ext cx="45855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1-7 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2157984"/>
            <a:ext cx="5502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57199" y="2304288"/>
            <a:ext cx="7703671" cy="384048"/>
          </a:xfrm>
          <a:prstGeom prst="rect">
            <a:avLst/>
          </a:prstGeom>
          <a:solidFill>
            <a:srgbClr val="1E5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94360" y="2304288"/>
            <a:ext cx="23844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出苗期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304288"/>
            <a:ext cx="45855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7-21 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633472"/>
            <a:ext cx="5502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199" y="2779776"/>
            <a:ext cx="7703671" cy="384048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94360" y="2779776"/>
            <a:ext cx="23844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生长期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2779776"/>
            <a:ext cx="45855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21-60 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3108960"/>
            <a:ext cx="5502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199" y="3255264"/>
            <a:ext cx="7703671" cy="384048"/>
          </a:xfrm>
          <a:prstGeom prst="rect">
            <a:avLst/>
          </a:prstGeom>
          <a:solidFill>
            <a:srgbClr val="5B8C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94360" y="3255264"/>
            <a:ext cx="23844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开花期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255264"/>
            <a:ext cx="45855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60-90 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3584448"/>
            <a:ext cx="5502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7199" y="3730752"/>
            <a:ext cx="7703671" cy="384048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94360" y="3730752"/>
            <a:ext cx="23844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3730752"/>
            <a:ext cx="45855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90-120 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根据种植日期自动计算 · 只前进不后退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软硬件协同联动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设备控制闭环 + 摄像头定时巡检 · 双链路架构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069080" cy="365760"/>
          </a:xfrm>
          <a:prstGeom prst="rect">
            <a:avLst/>
          </a:prstGeom>
          <a:solidFill>
            <a:srgbClr val="1A3C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链路一：设备控制闭环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657600" cy="438912"/>
          </a:xfrm>
          <a:prstGeom prst="rect">
            <a:avLst/>
          </a:prstGeom>
          <a:solidFill>
            <a:srgbClr val="F0F4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45720" cy="43891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用户指令 → Orchestrator 解析意图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11680" y="23042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3657600" cy="438912"/>
          </a:xfrm>
          <a:prstGeom prst="rect">
            <a:avLst/>
          </a:prstGeom>
          <a:solidFill>
            <a:srgbClr val="F0F4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5720" cy="43891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4688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DeviceAgent 生成控制方案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11680" y="28529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3657600" cy="438912"/>
          </a:xfrm>
          <a:prstGeom prst="rect">
            <a:avLst/>
          </a:prstGeom>
          <a:solidFill>
            <a:srgbClr val="F0F4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45720" cy="438912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0175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自主决策 auto_execute / need_confirm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11680" y="34015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3657600" cy="438912"/>
          </a:xfrm>
          <a:prstGeom prst="rect">
            <a:avLst/>
          </a:prstGeom>
          <a:solidFill>
            <a:srgbClr val="F0F4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45720" cy="43891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40080" y="356616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 下发指令到设备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11680" y="39502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3657600" cy="438912"/>
          </a:xfrm>
          <a:prstGeom prst="rect">
            <a:avLst/>
          </a:prstGeom>
          <a:solidFill>
            <a:srgbClr val="F0F4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45720" cy="43891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40080" y="41148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设备执行 → 状态回传 → 闭环确认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1371600"/>
            <a:ext cx="4069080" cy="365760"/>
          </a:xfrm>
          <a:prstGeom prst="rect">
            <a:avLst/>
          </a:prstGeom>
          <a:solidFill>
            <a:srgbClr val="1A3C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800600" y="13716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链路二：摄像头定时巡检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83480" y="1920240"/>
            <a:ext cx="3657600" cy="438912"/>
          </a:xfrm>
          <a:prstGeom prst="rect">
            <a:avLst/>
          </a:prstGeom>
          <a:solidFill>
            <a:srgbClr val="F0F4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983480" y="1920240"/>
            <a:ext cx="45720" cy="438912"/>
          </a:xfrm>
          <a:prstGeom prst="rect">
            <a:avLst/>
          </a:prstGeom>
          <a:solidFill>
            <a:srgbClr val="5B8C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166360" y="192024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定时触发 → 摄像头自动拍照采集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537960" y="23042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83480" y="2468880"/>
            <a:ext cx="3657600" cy="438912"/>
          </a:xfrm>
          <a:prstGeom prst="rect">
            <a:avLst/>
          </a:prstGeom>
          <a:solidFill>
            <a:srgbClr val="F0F4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983480" y="2468880"/>
            <a:ext cx="45720" cy="438912"/>
          </a:xfrm>
          <a:prstGeom prst="rect">
            <a:avLst/>
          </a:prstGeom>
          <a:solidFill>
            <a:srgbClr val="5B8C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166360" y="24688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图片上传 → Vision 多模态模型分析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37960" y="28529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983480" y="3017520"/>
            <a:ext cx="3657600" cy="438912"/>
          </a:xfrm>
          <a:prstGeom prst="rect">
            <a:avLst/>
          </a:prstGeom>
          <a:solidFill>
            <a:srgbClr val="F0F4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4983480" y="3017520"/>
            <a:ext cx="45720" cy="438912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166360" y="30175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判定异常 → 作物健康/病虫害预警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37960" y="34015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983480" y="3566160"/>
            <a:ext cx="3657600" cy="438912"/>
          </a:xfrm>
          <a:prstGeom prst="rect">
            <a:avLst/>
          </a:prstGeom>
          <a:solidFill>
            <a:srgbClr val="F0F4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4983480" y="3566160"/>
            <a:ext cx="45720" cy="438912"/>
          </a:xfrm>
          <a:prstGeom prst="rect">
            <a:avLst/>
          </a:prstGeom>
          <a:solidFill>
            <a:srgbClr val="5B8C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5166360" y="356616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异常告警 → 自动推送 SMS 通知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537960" y="39502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983480" y="4114800"/>
            <a:ext cx="3657600" cy="438912"/>
          </a:xfrm>
          <a:prstGeom prst="rect">
            <a:avLst/>
          </a:prstGeom>
          <a:solidFill>
            <a:srgbClr val="F0F4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4983480" y="4114800"/>
            <a:ext cx="45720" cy="438912"/>
          </a:xfrm>
          <a:prstGeom prst="rect">
            <a:avLst/>
          </a:prstGeom>
          <a:solidFill>
            <a:srgbClr val="5B8C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5166360" y="41148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结果存档 → 巡检日志 · 持续监控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双链路共享 DeviceAgent + Orchestrator · 决策全量写入执行日志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E3E1A4-7B51-AA65-D3E2-6932936BA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A7F61D-72E0-B48A-92D1-7C1C96FF5D46}"/>
              </a:ext>
            </a:extLst>
          </p:cNvPr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89BCCB-1491-98CB-E2A0-080AFC777AEA}"/>
              </a:ext>
            </a:extLst>
          </p:cNvPr>
          <p:cNvSpPr/>
          <p:nvPr/>
        </p:nvSpPr>
        <p:spPr>
          <a:xfrm>
            <a:off x="777240" y="384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软硬件协同联动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6B8F077-C4EE-6F02-3973-BF553760C89E}"/>
              </a:ext>
            </a:extLst>
          </p:cNvPr>
          <p:cNvSpPr/>
          <p:nvPr/>
        </p:nvSpPr>
        <p:spPr>
          <a:xfrm>
            <a:off x="77724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设备控制闭环 + 摄像头定时巡检 · 双链路架构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193CCF0-6AB6-A246-5326-43B4663C3F8F}"/>
              </a:ext>
            </a:extLst>
          </p:cNvPr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5F43D23-8547-6476-96C9-8F5CE25EE6D7}"/>
              </a:ext>
            </a:extLst>
          </p:cNvPr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CDD9219-EDB0-9181-A414-56B0C36D6615}"/>
              </a:ext>
            </a:extLst>
          </p:cNvPr>
          <p:cNvSpPr/>
          <p:nvPr/>
        </p:nvSpPr>
        <p:spPr>
          <a:xfrm>
            <a:off x="411480" y="1167862"/>
            <a:ext cx="8321040" cy="365760"/>
          </a:xfrm>
          <a:prstGeom prst="rect">
            <a:avLst/>
          </a:prstGeom>
          <a:solidFill>
            <a:srgbClr val="1A3C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0441AE8-E3CF-D032-9F84-B2BA13A9758E}"/>
              </a:ext>
            </a:extLst>
          </p:cNvPr>
          <p:cNvSpPr/>
          <p:nvPr/>
        </p:nvSpPr>
        <p:spPr>
          <a:xfrm>
            <a:off x="274320" y="1188720"/>
            <a:ext cx="145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后端日志展示</a:t>
            </a:r>
            <a:endParaRPr lang="en-US" sz="13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A83BB52C-F460-2EAC-F3ED-E0138053D0E5}"/>
              </a:ext>
            </a:extLst>
          </p:cNvPr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双链路共享 DeviceAgent + Orchestrator · 决策全量写入执行日志</a:t>
            </a:r>
            <a:endParaRPr lang="en-US" sz="1000" dirty="0"/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40EA95EA-C07A-D2A9-FA5E-3E1136C2D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41299"/>
            <a:ext cx="8332280" cy="310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528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设备控制双模式详解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手动控制 vs LLM 自动决策 · 安全阈值 · 执行确认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069080" cy="384048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手动控制模式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182880" cy="1828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19568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用户在 UI 面板选择目标设备并设置参数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194560"/>
            <a:ext cx="0" cy="164592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02920" y="2450592"/>
            <a:ext cx="182880" cy="1828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02920" y="24505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23957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→ DeviceAgent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633472"/>
            <a:ext cx="0" cy="164592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02920" y="2889504"/>
            <a:ext cx="182880" cy="1828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02920" y="2889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" y="2834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验证操作合法性 &amp; 安全阈值检查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3072384"/>
            <a:ext cx="0" cy="164592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02920" y="3328416"/>
            <a:ext cx="182880" cy="1828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02920" y="33284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" y="32735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下发指令 → 设备执行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3511296"/>
            <a:ext cx="0" cy="164592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02920" y="3767328"/>
            <a:ext cx="182880" cy="1828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02920" y="3767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" y="37124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状态实时回传 UI 面板更新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1371600"/>
            <a:ext cx="4069080" cy="384048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800600" y="137160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自动决策模式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0" y="2011680"/>
            <a:ext cx="182880" cy="182880"/>
          </a:xfrm>
          <a:prstGeom prst="ellipse">
            <a:avLst/>
          </a:prstGeom>
          <a:solidFill>
            <a:srgbClr val="1A3C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029200" y="2011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49240" y="19568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传感器定时上报 / 事件触发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20640" y="2194560"/>
            <a:ext cx="0" cy="164592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029200" y="2450592"/>
            <a:ext cx="182880" cy="182880"/>
          </a:xfrm>
          <a:prstGeom prst="ellipse">
            <a:avLst/>
          </a:prstGeom>
          <a:solidFill>
            <a:srgbClr val="1A3C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029200" y="24505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49240" y="23957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DeviceAgent 读取多传感器数据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20640" y="2633472"/>
            <a:ext cx="0" cy="164592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5029200" y="2889504"/>
            <a:ext cx="182880" cy="182880"/>
          </a:xfrm>
          <a:prstGeom prst="ellipse">
            <a:avLst/>
          </a:prstGeom>
          <a:solidFill>
            <a:srgbClr val="1A3C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5029200" y="2889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49240" y="2834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分析数据 → 生成控制方案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120640" y="3072384"/>
            <a:ext cx="0" cy="164592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5029200" y="3328416"/>
            <a:ext cx="182880" cy="182880"/>
          </a:xfrm>
          <a:prstGeom prst="ellipse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5029200" y="33284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349240" y="32735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auto_execute: 低风险直接执行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120640" y="3511296"/>
            <a:ext cx="0" cy="164592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5029200" y="3767328"/>
            <a:ext cx="182880" cy="182880"/>
          </a:xfrm>
          <a:prstGeom prst="ellipse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5029200" y="3767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349240" y="37124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need_confirm: 高风险推UI确认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315968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安全机制：所有指令安全阈值校验 · 高风险操作强制 need_confirm · 全量日志可追溯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长记忆与跨会话恢复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用户档案持久化 · 自动总结压缩 · 跨浏览器无缝延续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09906" y="1371600"/>
            <a:ext cx="3931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309906" y="1371600"/>
            <a:ext cx="45720" cy="5943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510306" y="1481328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510306" y="1481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92786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会话开始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92786" y="1664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从持久化存储加载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用户档案 + 对话历史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83458" y="19202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09906" y="2084832"/>
            <a:ext cx="3931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309906" y="2084832"/>
            <a:ext cx="45720" cy="5943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510306" y="219456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510306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92786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每轮对话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92786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新消息追加到当前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会话上下文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83458" y="26334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09906" y="2798064"/>
            <a:ext cx="3931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2309906" y="2798064"/>
            <a:ext cx="45720" cy="5943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510306" y="2907792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510306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92786" y="28437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3 轮总结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92786" y="3090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自动总结关键信息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压缩注入系统提示词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83458" y="33467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09906" y="3511296"/>
            <a:ext cx="3931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2309906" y="3511296"/>
            <a:ext cx="45720" cy="5943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510306" y="3621024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510306" y="3621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92786" y="35570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会话结束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92786" y="38039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完整对话写入文件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自动持久化保存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83458" y="40599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09906" y="4224528"/>
            <a:ext cx="3931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2309906" y="4224528"/>
            <a:ext cx="45720" cy="5943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5510306" y="4334256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510306" y="4334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92786" y="42702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下次会话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492786" y="45171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恢复完整上下文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跨浏览器无缝延续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完整请求链路演示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端到端流程：用户输入 → 意图识别 → Agent调度 → 决策执行 → 回复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1828800"/>
            <a:ext cx="960120" cy="731520"/>
          </a:xfrm>
          <a:prstGeom prst="rect">
            <a:avLst/>
          </a:prstGeom>
          <a:solidFill>
            <a:srgbClr val="1A3C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82880" y="188366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2880" y="22128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自然语言指令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3000" y="201168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80160" y="1828800"/>
            <a:ext cx="960120" cy="731520"/>
          </a:xfrm>
          <a:prstGeom prst="rect">
            <a:avLst/>
          </a:prstGeom>
          <a:solidFill>
            <a:srgbClr val="F0F4E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280160" y="188366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意图分类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80160" y="22128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三级降级识别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240280" y="201168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1828800"/>
            <a:ext cx="960120" cy="731520"/>
          </a:xfrm>
          <a:prstGeom prst="rect">
            <a:avLst/>
          </a:prstGeom>
          <a:solidFill>
            <a:srgbClr val="F0F4E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2377440" y="188366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Orch.调度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77440" y="22128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任务分解分配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37560" y="201168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828800"/>
            <a:ext cx="960120" cy="731520"/>
          </a:xfrm>
          <a:prstGeom prst="rect">
            <a:avLst/>
          </a:prstGeom>
          <a:solidFill>
            <a:srgbClr val="F0F4E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474720" y="188366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Agent执行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0" y="22128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读取传感器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434840" y="201168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1828800"/>
            <a:ext cx="960120" cy="731520"/>
          </a:xfrm>
          <a:prstGeom prst="rect">
            <a:avLst/>
          </a:prstGeom>
          <a:solidFill>
            <a:srgbClr val="D4A853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572000" y="188366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LLM决策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0" y="22128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auto_execute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532120" y="201168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0" y="1828800"/>
            <a:ext cx="960120" cy="731520"/>
          </a:xfrm>
          <a:prstGeom prst="rect">
            <a:avLst/>
          </a:prstGeom>
          <a:solidFill>
            <a:srgbClr val="F0F4E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669280" y="188366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MQTT下发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69280" y="22128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设备指令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629400" y="201168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66560" y="1828800"/>
            <a:ext cx="960120" cy="731520"/>
          </a:xfrm>
          <a:prstGeom prst="rect">
            <a:avLst/>
          </a:prstGeom>
          <a:solidFill>
            <a:srgbClr val="F0F4E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766560" y="188366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设备执行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66560" y="22128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状态回传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726680" y="201168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863840" y="1828800"/>
            <a:ext cx="960120" cy="731520"/>
          </a:xfrm>
          <a:prstGeom prst="rect">
            <a:avLst/>
          </a:prstGeom>
          <a:solidFill>
            <a:srgbClr val="1A3C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863840" y="188366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回复用户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863840" y="22128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格式化输出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74320" y="3017520"/>
            <a:ext cx="8595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场景："大棚温湿度异常，帮我检查并决定是否开风扇"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三步关键决策：意图分类 → Agent方案生成 → LLM auto_execute/need_confirm 判断 · 全程 &lt; 3s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时间轴：T+0ms 意图 → T+50ms 分类 → T+200ms 调度 → T+800ms 决策 → T+1.5s MQTT → T+2.5s 回传 → T+2.8s 输出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知识检索体系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双索引 + 语义搜索 + 关键词匹配双通道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3192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zh-CN" altLang="en-US" dirty="0"/>
              <a:t>作物知识索引 </a:t>
            </a:r>
            <a:endParaRPr lang="en-US" altLang="zh-CN" dirty="0"/>
          </a:p>
          <a:p>
            <a:pPr>
              <a:spcBef>
                <a:spcPts val="600"/>
              </a:spcBef>
            </a:pPr>
            <a:r>
              <a:rPr lang="en-US" altLang="zh-CN" sz="1200" dirty="0"/>
              <a:t>15 </a:t>
            </a:r>
            <a:r>
              <a:rPr lang="zh-CN" altLang="en-US" sz="1200" dirty="0"/>
              <a:t>种作物结构化数据 </a:t>
            </a:r>
            <a:r>
              <a:rPr lang="en-US" altLang="zh-CN" sz="1200" dirty="0"/>
              <a:t>· </a:t>
            </a:r>
            <a:r>
              <a:rPr lang="zh-CN" altLang="en-US" sz="1200" dirty="0"/>
              <a:t>种植时间 </a:t>
            </a:r>
            <a:r>
              <a:rPr lang="en-US" altLang="zh-CN" sz="1200" dirty="0"/>
              <a:t>· </a:t>
            </a:r>
            <a:r>
              <a:rPr lang="zh-CN" altLang="en-US" sz="1200" dirty="0"/>
              <a:t>方法 </a:t>
            </a:r>
            <a:r>
              <a:rPr lang="en-US" altLang="zh-CN" sz="1200" dirty="0"/>
              <a:t>· </a:t>
            </a:r>
            <a:r>
              <a:rPr lang="zh-CN" altLang="en-US" sz="1200" dirty="0"/>
              <a:t>病虫害防治 </a:t>
            </a:r>
            <a:r>
              <a:rPr lang="en-US" altLang="zh-CN" sz="1200" dirty="0"/>
              <a:t>· </a:t>
            </a:r>
            <a:r>
              <a:rPr lang="zh-CN" altLang="en-US" sz="1200" dirty="0"/>
              <a:t>肥料管理 </a:t>
            </a:r>
            <a:endParaRPr lang="zh-CN" alt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5720" cy="841248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93192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zh-CN" altLang="en-US" dirty="0"/>
              <a:t>政策文档索引</a:t>
            </a:r>
            <a:endParaRPr lang="en-US" altLang="zh-CN" dirty="0"/>
          </a:p>
          <a:p>
            <a:pPr>
              <a:spcBef>
                <a:spcPts val="600"/>
              </a:spcBef>
            </a:pPr>
            <a:r>
              <a:rPr lang="zh-CN" altLang="en-US" sz="1200" dirty="0"/>
              <a:t>补贴政策 </a:t>
            </a:r>
            <a:r>
              <a:rPr lang="en-US" altLang="zh-CN" sz="1200" dirty="0"/>
              <a:t>· </a:t>
            </a:r>
            <a:r>
              <a:rPr lang="zh-CN" altLang="en-US" sz="1200" dirty="0"/>
              <a:t>法规文件 </a:t>
            </a:r>
            <a:r>
              <a:rPr lang="en-US" altLang="zh-CN" sz="1200" dirty="0"/>
              <a:t>· </a:t>
            </a:r>
            <a:r>
              <a:rPr lang="zh-CN" altLang="en-US" sz="1200" dirty="0"/>
              <a:t>政府公告 </a:t>
            </a:r>
            <a:r>
              <a:rPr lang="en-US" altLang="zh-CN" sz="1200" dirty="0"/>
              <a:t>· RAG </a:t>
            </a:r>
            <a:r>
              <a:rPr lang="zh-CN" altLang="en-US" sz="1200" dirty="0"/>
              <a:t>增强检索 </a:t>
            </a:r>
            <a:r>
              <a:rPr lang="en-US" altLang="zh-CN" sz="1200" dirty="0"/>
              <a:t>· </a:t>
            </a:r>
            <a:r>
              <a:rPr lang="zh-CN" altLang="en-US" sz="1200" dirty="0"/>
              <a:t>精确原文引用</a:t>
            </a:r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45720" cy="841248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75488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检索流程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1600200"/>
            <a:ext cx="3840480" cy="347472"/>
          </a:xfrm>
          <a:prstGeom prst="rect">
            <a:avLst/>
          </a:prstGeom>
          <a:solidFill>
            <a:srgbClr val="F0F4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用户查询 → 向量化嵌入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92240" y="189280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2011680"/>
            <a:ext cx="3840480" cy="347472"/>
          </a:xfrm>
          <a:prstGeom prst="rect">
            <a:avLst/>
          </a:prstGeom>
          <a:solidFill>
            <a:srgbClr val="F0F4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892040" y="20116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FAISS 语义搜索 (top-K)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23042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3840480" cy="347472"/>
          </a:xfrm>
          <a:prstGeom prst="rect">
            <a:avLst/>
          </a:prstGeom>
          <a:solidFill>
            <a:srgbClr val="F0F4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892040" y="24231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BM25 关键词匹配补充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92240" y="27157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3840480" cy="347472"/>
          </a:xfrm>
          <a:prstGeom prst="rect">
            <a:avLst/>
          </a:prstGeom>
          <a:solidFill>
            <a:srgbClr val="F0F4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892040" y="28346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双通道结果融合排序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31272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3246120"/>
            <a:ext cx="3840480" cy="347472"/>
          </a:xfrm>
          <a:prstGeom prst="rect">
            <a:avLst/>
          </a:prstGeom>
          <a:solidFill>
            <a:srgbClr val="F0F4EE">
              <a:alpha val="85000"/>
            </a:srgbClr>
          </a:solidFill>
          <a:ln>
            <a:solidFill>
              <a:srgbClr val="F0F4E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892040" y="3246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自动 fallback 兜底策略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92240" y="35387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3657600"/>
            <a:ext cx="3840480" cy="347472"/>
          </a:xfrm>
          <a:prstGeom prst="rect">
            <a:avLst/>
          </a:prstGeom>
          <a:solidFill>
            <a:srgbClr val="F0F4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892040" y="36576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注入 LLM 上下文生成回答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长记忆机制：每 3 轮自动总结 → 注入上下文 · 用户档案持久化 · 跨会话恢复 · 重开浏览器记忆不丢失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农事提醒 &amp; 后台调度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常驻进程 · 定时检查 · SMS 自动推送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调度引擎工作流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7200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" y="2148840"/>
            <a:ext cx="0" cy="219456"/>
          </a:xfrm>
          <a:prstGeom prst="line">
            <a:avLst/>
          </a:prstGeom>
          <a:noFill/>
          <a:ln w="15240">
            <a:solidFill>
              <a:srgbClr val="97BC62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60120" y="1856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创建提醒(类型·频率·时间)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" y="2715768"/>
            <a:ext cx="0" cy="219456"/>
          </a:xfrm>
          <a:prstGeom prst="line">
            <a:avLst/>
          </a:prstGeom>
          <a:noFill/>
          <a:ln w="15240">
            <a:solidFill>
              <a:srgbClr val="97BC62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60120" y="2423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后台调度器循环检查到期任务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90088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" y="3282696"/>
            <a:ext cx="0" cy="219456"/>
          </a:xfrm>
          <a:prstGeom prst="line">
            <a:avLst/>
          </a:prstGeom>
          <a:noFill/>
          <a:ln w="15240">
            <a:solidFill>
              <a:srgbClr val="97BC62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60120" y="2990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匹配当前时间 → 触发提醒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57016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57200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3504" y="3849624"/>
            <a:ext cx="0" cy="219456"/>
          </a:xfrm>
          <a:prstGeom prst="line">
            <a:avLst/>
          </a:prstGeom>
          <a:noFill/>
          <a:ln w="15240">
            <a:solidFill>
              <a:srgbClr val="97BC62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60120" y="35570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自动推送通知内容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23944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57200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0120" y="41239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发送状态写入提醒日志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支持功能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846320" y="178308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84632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919472" y="216712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种提醒类型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19472" y="2441448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浇水·施肥·除草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病虫害·修剪·收获·其他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0" y="178308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8580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931152" y="216712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多频率设置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31152" y="2441448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单次·每天·每周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每两周·每月·自定义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320040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484632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919472" y="358444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进度跟踪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19472" y="3858768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侧边栏进度卡片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任务列表·收获倒计时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58000" y="320040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85800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🌱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931152" y="358444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生长自动推进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31152" y="3858768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根据种植日期计算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阶段只前进不后退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C3A56A-397E-1325-6642-712165DCE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A852A5-EF4C-BA28-1B7B-E1120FADEC0C}"/>
              </a:ext>
            </a:extLst>
          </p:cNvPr>
          <p:cNvSpPr/>
          <p:nvPr/>
        </p:nvSpPr>
        <p:spPr>
          <a:xfrm>
            <a:off x="274319" y="181446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B96088-4671-85BC-6126-38AB56A17528}"/>
              </a:ext>
            </a:extLst>
          </p:cNvPr>
          <p:cNvSpPr/>
          <p:nvPr/>
        </p:nvSpPr>
        <p:spPr>
          <a:xfrm>
            <a:off x="502919" y="10829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界面效果展示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811E14-EC13-AC47-2300-197DA788DBD8}"/>
              </a:ext>
            </a:extLst>
          </p:cNvPr>
          <p:cNvSpPr/>
          <p:nvPr/>
        </p:nvSpPr>
        <p:spPr>
          <a:xfrm>
            <a:off x="502919" y="56549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核心功能页面一览 · Streamlit 前端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87E56CA-69DE-E8FE-B345-4004238BB31B}"/>
              </a:ext>
            </a:extLst>
          </p:cNvPr>
          <p:cNvSpPr/>
          <p:nvPr/>
        </p:nvSpPr>
        <p:spPr>
          <a:xfrm>
            <a:off x="274319" y="867246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7D3B10B-A707-9171-DF07-1B336DB32CDB}"/>
              </a:ext>
            </a:extLst>
          </p:cNvPr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30A4D12-CC19-69F4-2A01-A2F48A412D06}"/>
              </a:ext>
            </a:extLst>
          </p:cNvPr>
          <p:cNvSpPr/>
          <p:nvPr/>
        </p:nvSpPr>
        <p:spPr>
          <a:xfrm>
            <a:off x="260871" y="867246"/>
            <a:ext cx="402517" cy="3986199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86BD7AD9-F99E-728C-4787-CF17CC752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07" y="870275"/>
            <a:ext cx="7075246" cy="398317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2F203C22-0717-0BEC-1E80-56AB734D0A9E}"/>
              </a:ext>
            </a:extLst>
          </p:cNvPr>
          <p:cNvSpPr txBox="1"/>
          <p:nvPr/>
        </p:nvSpPr>
        <p:spPr>
          <a:xfrm>
            <a:off x="231296" y="1866705"/>
            <a:ext cx="461665" cy="147521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rgbClr val="D4A853"/>
                </a:solidFill>
              </a:rPr>
              <a:t> 首  页  概  览</a:t>
            </a:r>
          </a:p>
        </p:txBody>
      </p:sp>
    </p:spTree>
    <p:extLst>
      <p:ext uri="{BB962C8B-B14F-4D97-AF65-F5344CB8AC3E}">
        <p14:creationId xmlns:p14="http://schemas.microsoft.com/office/powerpoint/2010/main" val="3568272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D71A66-8697-47C1-9AAF-8811D17A6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B2513C3-DC18-263B-2E66-C1D7F02EC35F}"/>
              </a:ext>
            </a:extLst>
          </p:cNvPr>
          <p:cNvSpPr/>
          <p:nvPr/>
        </p:nvSpPr>
        <p:spPr>
          <a:xfrm>
            <a:off x="274319" y="181446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D7DC4A-5B69-2943-6843-AEBAA3241290}"/>
              </a:ext>
            </a:extLst>
          </p:cNvPr>
          <p:cNvSpPr/>
          <p:nvPr/>
        </p:nvSpPr>
        <p:spPr>
          <a:xfrm>
            <a:off x="502919" y="10829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界面效果展示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B773CC6-BA46-036F-869D-1F967A49773C}"/>
              </a:ext>
            </a:extLst>
          </p:cNvPr>
          <p:cNvSpPr/>
          <p:nvPr/>
        </p:nvSpPr>
        <p:spPr>
          <a:xfrm>
            <a:off x="502919" y="56549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核心功能页面一览 · Streamlit 前端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9D4DD64-C115-B55C-5824-48DEF09F46DF}"/>
              </a:ext>
            </a:extLst>
          </p:cNvPr>
          <p:cNvSpPr/>
          <p:nvPr/>
        </p:nvSpPr>
        <p:spPr>
          <a:xfrm>
            <a:off x="274319" y="867246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114989A-52C3-C850-F1F1-065F8001B203}"/>
              </a:ext>
            </a:extLst>
          </p:cNvPr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4B92E2B-47B8-8F92-8C52-53357A5DB402}"/>
              </a:ext>
            </a:extLst>
          </p:cNvPr>
          <p:cNvSpPr/>
          <p:nvPr/>
        </p:nvSpPr>
        <p:spPr>
          <a:xfrm>
            <a:off x="260871" y="867246"/>
            <a:ext cx="402517" cy="3986199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F0ABC41-4FD4-A838-368A-B3866AA6FC6D}"/>
              </a:ext>
            </a:extLst>
          </p:cNvPr>
          <p:cNvSpPr txBox="1"/>
          <p:nvPr/>
        </p:nvSpPr>
        <p:spPr>
          <a:xfrm>
            <a:off x="231295" y="1679804"/>
            <a:ext cx="461665" cy="24049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rgbClr val="D4A853"/>
                </a:solidFill>
              </a:rPr>
              <a:t>自 动 解 析 模 型 回 答 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98B3269-7077-B16E-EF5F-1D87B1726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88" y="1214403"/>
            <a:ext cx="6225972" cy="177051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0698328-9F59-DD67-FA41-C58169C45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86" y="3341921"/>
            <a:ext cx="3568602" cy="1511137"/>
          </a:xfrm>
          <a:prstGeom prst="rect">
            <a:avLst/>
          </a:prstGeom>
        </p:spPr>
      </p:pic>
      <p:sp>
        <p:nvSpPr>
          <p:cNvPr id="13" name="Shape 6">
            <a:extLst>
              <a:ext uri="{FF2B5EF4-FFF2-40B4-BE49-F238E27FC236}">
                <a16:creationId xmlns:a16="http://schemas.microsoft.com/office/drawing/2014/main" id="{253AA080-C7C4-E6AC-8522-05672CDAFD3C}"/>
              </a:ext>
            </a:extLst>
          </p:cNvPr>
          <p:cNvSpPr/>
          <p:nvPr/>
        </p:nvSpPr>
        <p:spPr>
          <a:xfrm>
            <a:off x="663388" y="871867"/>
            <a:ext cx="7657651" cy="358719"/>
          </a:xfrm>
          <a:prstGeom prst="rect">
            <a:avLst/>
          </a:prstGeom>
          <a:solidFill>
            <a:srgbClr val="336F3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106D4A5-C9B6-458E-37C3-5C1D34FB9FE3}"/>
              </a:ext>
            </a:extLst>
          </p:cNvPr>
          <p:cNvSpPr txBox="1"/>
          <p:nvPr/>
        </p:nvSpPr>
        <p:spPr>
          <a:xfrm>
            <a:off x="663388" y="858470"/>
            <a:ext cx="5648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D4A853"/>
                </a:solidFill>
              </a:rPr>
              <a:t>自动控制硬件动作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6D5129C-4A1E-5B0F-E0E2-6A5167D63B6B}"/>
              </a:ext>
            </a:extLst>
          </p:cNvPr>
          <p:cNvSpPr/>
          <p:nvPr/>
        </p:nvSpPr>
        <p:spPr>
          <a:xfrm>
            <a:off x="6889355" y="1235206"/>
            <a:ext cx="1431681" cy="1749716"/>
          </a:xfrm>
          <a:prstGeom prst="rect">
            <a:avLst/>
          </a:prstGeom>
          <a:solidFill>
            <a:srgbClr val="E2DC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7863D7B-EFB0-D46E-D336-61F274F6F76E}"/>
              </a:ext>
            </a:extLst>
          </p:cNvPr>
          <p:cNvSpPr/>
          <p:nvPr/>
        </p:nvSpPr>
        <p:spPr>
          <a:xfrm>
            <a:off x="6889360" y="1544460"/>
            <a:ext cx="1431681" cy="135344"/>
          </a:xfrm>
          <a:prstGeom prst="roundRect">
            <a:avLst/>
          </a:prstGeom>
          <a:solidFill>
            <a:srgbClr val="E0E0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11FED32B-3E5C-4026-ED07-93B51C5F396F}"/>
              </a:ext>
            </a:extLst>
          </p:cNvPr>
          <p:cNvSpPr/>
          <p:nvPr/>
        </p:nvSpPr>
        <p:spPr>
          <a:xfrm>
            <a:off x="663387" y="2983202"/>
            <a:ext cx="7657651" cy="358719"/>
          </a:xfrm>
          <a:prstGeom prst="rect">
            <a:avLst/>
          </a:prstGeom>
          <a:solidFill>
            <a:srgbClr val="336F3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78600FF-6525-B1E4-7554-0C2B73737F0D}"/>
              </a:ext>
            </a:extLst>
          </p:cNvPr>
          <p:cNvSpPr/>
          <p:nvPr/>
        </p:nvSpPr>
        <p:spPr>
          <a:xfrm>
            <a:off x="4231988" y="3341921"/>
            <a:ext cx="4089051" cy="1511137"/>
          </a:xfrm>
          <a:prstGeom prst="rect">
            <a:avLst/>
          </a:prstGeom>
          <a:solidFill>
            <a:srgbClr val="E2DC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87C97B2-6710-1A0D-D747-374C388C0379}"/>
              </a:ext>
            </a:extLst>
          </p:cNvPr>
          <p:cNvSpPr/>
          <p:nvPr/>
        </p:nvSpPr>
        <p:spPr>
          <a:xfrm>
            <a:off x="4231988" y="3710417"/>
            <a:ext cx="4089050" cy="135345"/>
          </a:xfrm>
          <a:prstGeom prst="roundRect">
            <a:avLst/>
          </a:prstGeom>
          <a:solidFill>
            <a:srgbClr val="E0E0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5920951-B37F-6526-DBD9-509AA29BD339}"/>
              </a:ext>
            </a:extLst>
          </p:cNvPr>
          <p:cNvSpPr txBox="1"/>
          <p:nvPr/>
        </p:nvSpPr>
        <p:spPr>
          <a:xfrm>
            <a:off x="663388" y="2972171"/>
            <a:ext cx="5648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D4A853"/>
                </a:solidFill>
              </a:rPr>
              <a:t>自动设置提醒</a:t>
            </a:r>
          </a:p>
        </p:txBody>
      </p:sp>
    </p:spTree>
    <p:extLst>
      <p:ext uri="{BB962C8B-B14F-4D97-AF65-F5344CB8AC3E}">
        <p14:creationId xmlns:p14="http://schemas.microsoft.com/office/powerpoint/2010/main" val="1467825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9E9B7-FB1E-921D-B26C-ADBCBEF5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8BFD35-96CF-3399-8B75-1DD9194FBCCC}"/>
              </a:ext>
            </a:extLst>
          </p:cNvPr>
          <p:cNvSpPr/>
          <p:nvPr/>
        </p:nvSpPr>
        <p:spPr>
          <a:xfrm>
            <a:off x="274319" y="181446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4BAA4D-A4C4-A786-6D90-0CD887EB8A57}"/>
              </a:ext>
            </a:extLst>
          </p:cNvPr>
          <p:cNvSpPr/>
          <p:nvPr/>
        </p:nvSpPr>
        <p:spPr>
          <a:xfrm>
            <a:off x="502919" y="10829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界面效果展示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0D6040-78CD-F7F5-7A21-A27F2045D5E7}"/>
              </a:ext>
            </a:extLst>
          </p:cNvPr>
          <p:cNvSpPr/>
          <p:nvPr/>
        </p:nvSpPr>
        <p:spPr>
          <a:xfrm>
            <a:off x="502919" y="56549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核心功能页面一览 · Streamlit 前端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C57BEE5-92A5-6365-FF13-F4B5AC3498CD}"/>
              </a:ext>
            </a:extLst>
          </p:cNvPr>
          <p:cNvSpPr/>
          <p:nvPr/>
        </p:nvSpPr>
        <p:spPr>
          <a:xfrm>
            <a:off x="274319" y="867246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E39BEF-2F8F-D1B0-F153-9E958115F1A1}"/>
              </a:ext>
            </a:extLst>
          </p:cNvPr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DC85BDB-496A-C154-B9E3-4F3198AE93DE}"/>
              </a:ext>
            </a:extLst>
          </p:cNvPr>
          <p:cNvSpPr/>
          <p:nvPr/>
        </p:nvSpPr>
        <p:spPr>
          <a:xfrm>
            <a:off x="260871" y="867246"/>
            <a:ext cx="402517" cy="3986199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0825AF3-58FB-6D2C-50CF-C66191E1BAB7}"/>
              </a:ext>
            </a:extLst>
          </p:cNvPr>
          <p:cNvSpPr txBox="1"/>
          <p:nvPr/>
        </p:nvSpPr>
        <p:spPr>
          <a:xfrm>
            <a:off x="231296" y="1866704"/>
            <a:ext cx="461665" cy="186681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rgbClr val="D4A853"/>
                </a:solidFill>
              </a:rPr>
              <a:t> 农 业 问 题 询 问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4746C50-E6CF-5017-CB4E-8AB33862B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88" y="867987"/>
            <a:ext cx="6768353" cy="3984715"/>
          </a:xfrm>
          <a:prstGeom prst="rect">
            <a:avLst/>
          </a:prstGeom>
        </p:spPr>
      </p:pic>
      <p:sp>
        <p:nvSpPr>
          <p:cNvPr id="15" name="Shape 6">
            <a:extLst>
              <a:ext uri="{FF2B5EF4-FFF2-40B4-BE49-F238E27FC236}">
                <a16:creationId xmlns:a16="http://schemas.microsoft.com/office/drawing/2014/main" id="{C8659658-8077-65EB-6210-D58C0CEE1350}"/>
              </a:ext>
            </a:extLst>
          </p:cNvPr>
          <p:cNvSpPr/>
          <p:nvPr/>
        </p:nvSpPr>
        <p:spPr>
          <a:xfrm>
            <a:off x="663386" y="3885483"/>
            <a:ext cx="7671101" cy="274320"/>
          </a:xfrm>
          <a:prstGeom prst="rect">
            <a:avLst/>
          </a:prstGeom>
          <a:solidFill>
            <a:srgbClr val="336F34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524B147-4EED-97EF-B0E0-96E083AF1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88" y="4159803"/>
            <a:ext cx="6768353" cy="69364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0717F28D-6617-C8E1-6068-3569D2406C7E}"/>
              </a:ext>
            </a:extLst>
          </p:cNvPr>
          <p:cNvSpPr txBox="1"/>
          <p:nvPr/>
        </p:nvSpPr>
        <p:spPr>
          <a:xfrm>
            <a:off x="3357070" y="3837977"/>
            <a:ext cx="5648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D4A853"/>
                </a:solidFill>
              </a:rPr>
              <a:t>农事任务自动生成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F130BEB-4E93-36E4-2DCD-BB8ED1C11722}"/>
              </a:ext>
            </a:extLst>
          </p:cNvPr>
          <p:cNvSpPr/>
          <p:nvPr/>
        </p:nvSpPr>
        <p:spPr>
          <a:xfrm>
            <a:off x="7431744" y="865599"/>
            <a:ext cx="902744" cy="3019874"/>
          </a:xfrm>
          <a:prstGeom prst="rect">
            <a:avLst/>
          </a:prstGeom>
          <a:solidFill>
            <a:srgbClr val="E2DC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1D925F7-0BCB-B942-752A-5AD3C2A49B99}"/>
              </a:ext>
            </a:extLst>
          </p:cNvPr>
          <p:cNvSpPr/>
          <p:nvPr/>
        </p:nvSpPr>
        <p:spPr>
          <a:xfrm>
            <a:off x="7431744" y="1170286"/>
            <a:ext cx="902744" cy="135238"/>
          </a:xfrm>
          <a:prstGeom prst="roundRect">
            <a:avLst/>
          </a:prstGeom>
          <a:solidFill>
            <a:srgbClr val="E0E0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5510ADD-2C8A-68B5-FDDA-009262E9D5A0}"/>
              </a:ext>
            </a:extLst>
          </p:cNvPr>
          <p:cNvSpPr/>
          <p:nvPr/>
        </p:nvSpPr>
        <p:spPr>
          <a:xfrm>
            <a:off x="7431741" y="4159803"/>
            <a:ext cx="902744" cy="693642"/>
          </a:xfrm>
          <a:prstGeom prst="rect">
            <a:avLst/>
          </a:prstGeom>
          <a:solidFill>
            <a:srgbClr val="E2DC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4287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E43D16-8E0D-EF94-D295-AD9451210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6AD111-BFDA-EA2F-C0A4-749C18B06E8B}"/>
              </a:ext>
            </a:extLst>
          </p:cNvPr>
          <p:cNvSpPr/>
          <p:nvPr/>
        </p:nvSpPr>
        <p:spPr>
          <a:xfrm>
            <a:off x="274319" y="181446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4F6149-68F1-F029-4B84-B244731C07C5}"/>
              </a:ext>
            </a:extLst>
          </p:cNvPr>
          <p:cNvSpPr/>
          <p:nvPr/>
        </p:nvSpPr>
        <p:spPr>
          <a:xfrm>
            <a:off x="502919" y="10829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界面效果展示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C500CB8-05F2-7253-7DC3-509F7C8737E9}"/>
              </a:ext>
            </a:extLst>
          </p:cNvPr>
          <p:cNvSpPr/>
          <p:nvPr/>
        </p:nvSpPr>
        <p:spPr>
          <a:xfrm>
            <a:off x="502919" y="56549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核心功能页面一览 · Streamlit 前端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1DD3222-FDD4-480F-8540-74B89100E691}"/>
              </a:ext>
            </a:extLst>
          </p:cNvPr>
          <p:cNvSpPr/>
          <p:nvPr/>
        </p:nvSpPr>
        <p:spPr>
          <a:xfrm>
            <a:off x="274319" y="867246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F25C3C0-B7CC-FFD4-B3FB-A205CD529A31}"/>
              </a:ext>
            </a:extLst>
          </p:cNvPr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1D2F93D-A3ED-EEB7-03F3-37BFE49C6FDA}"/>
              </a:ext>
            </a:extLst>
          </p:cNvPr>
          <p:cNvSpPr/>
          <p:nvPr/>
        </p:nvSpPr>
        <p:spPr>
          <a:xfrm>
            <a:off x="260871" y="867246"/>
            <a:ext cx="402517" cy="3986199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35D18C7-FFDA-B5B2-3375-2AE6BB8AAE99}"/>
              </a:ext>
            </a:extLst>
          </p:cNvPr>
          <p:cNvSpPr txBox="1"/>
          <p:nvPr/>
        </p:nvSpPr>
        <p:spPr>
          <a:xfrm>
            <a:off x="231296" y="1866704"/>
            <a:ext cx="461665" cy="186681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rgbClr val="D4A853"/>
                </a:solidFill>
              </a:rPr>
              <a:t> 农 业 种 植 规 划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F566A55-F0C2-FFEE-6025-ADBE482B1825}"/>
              </a:ext>
            </a:extLst>
          </p:cNvPr>
          <p:cNvSpPr/>
          <p:nvPr/>
        </p:nvSpPr>
        <p:spPr>
          <a:xfrm>
            <a:off x="6110305" y="865598"/>
            <a:ext cx="2224183" cy="3987981"/>
          </a:xfrm>
          <a:prstGeom prst="rect">
            <a:avLst/>
          </a:prstGeom>
          <a:solidFill>
            <a:srgbClr val="E2DC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320DEC7-8057-35B0-B485-FFAAD190C8DA}"/>
              </a:ext>
            </a:extLst>
          </p:cNvPr>
          <p:cNvSpPr/>
          <p:nvPr/>
        </p:nvSpPr>
        <p:spPr>
          <a:xfrm>
            <a:off x="6110304" y="1094198"/>
            <a:ext cx="2224183" cy="71067"/>
          </a:xfrm>
          <a:prstGeom prst="roundRect">
            <a:avLst/>
          </a:prstGeom>
          <a:solidFill>
            <a:srgbClr val="E0E0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17A1A2B-6805-65D6-5ED1-AD63FAA4A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39" y="867246"/>
            <a:ext cx="5460366" cy="398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795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0075FC-5108-CBF9-8E87-DBF59B5D8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A647F1-C8F5-D267-644A-FBD5CCACAF3D}"/>
              </a:ext>
            </a:extLst>
          </p:cNvPr>
          <p:cNvSpPr/>
          <p:nvPr/>
        </p:nvSpPr>
        <p:spPr>
          <a:xfrm>
            <a:off x="274319" y="181446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E3508A-F625-3B05-2AF9-8D681DBC15CB}"/>
              </a:ext>
            </a:extLst>
          </p:cNvPr>
          <p:cNvSpPr/>
          <p:nvPr/>
        </p:nvSpPr>
        <p:spPr>
          <a:xfrm>
            <a:off x="502919" y="10829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界面效果展示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FDD8E3-074E-8146-4450-E78F7276901F}"/>
              </a:ext>
            </a:extLst>
          </p:cNvPr>
          <p:cNvSpPr/>
          <p:nvPr/>
        </p:nvSpPr>
        <p:spPr>
          <a:xfrm>
            <a:off x="502919" y="56549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核心功能页面一览 · Streamlit 前端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5480C2B-53BD-F642-CEC3-D89E6BBE512E}"/>
              </a:ext>
            </a:extLst>
          </p:cNvPr>
          <p:cNvSpPr/>
          <p:nvPr/>
        </p:nvSpPr>
        <p:spPr>
          <a:xfrm>
            <a:off x="274319" y="867246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1BEB7C0-B8F5-DE95-FBEF-7BF6AA24B8F2}"/>
              </a:ext>
            </a:extLst>
          </p:cNvPr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517C9EC-9A57-7710-264C-95BBD3B2BC70}"/>
              </a:ext>
            </a:extLst>
          </p:cNvPr>
          <p:cNvSpPr/>
          <p:nvPr/>
        </p:nvSpPr>
        <p:spPr>
          <a:xfrm>
            <a:off x="260871" y="867246"/>
            <a:ext cx="402517" cy="3986199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3D4009E-87B2-AB13-6399-F1919767C577}"/>
              </a:ext>
            </a:extLst>
          </p:cNvPr>
          <p:cNvSpPr txBox="1"/>
          <p:nvPr/>
        </p:nvSpPr>
        <p:spPr>
          <a:xfrm>
            <a:off x="231296" y="1866704"/>
            <a:ext cx="461665" cy="186681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rgbClr val="D4A853"/>
                </a:solidFill>
              </a:rPr>
              <a:t> 硬 件 兼 容 联 动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5281DF-11D4-D952-4A7F-C44942CE2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88" y="867245"/>
            <a:ext cx="7346623" cy="398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600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界面效果展示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核心功能页面一览 · Streamlit 前端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52359" y="1237198"/>
            <a:ext cx="344214" cy="1777567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6ABBCCD-A223-EE54-EEA8-AB49A9AAB8E7}"/>
              </a:ext>
            </a:extLst>
          </p:cNvPr>
          <p:cNvSpPr txBox="1"/>
          <p:nvPr/>
        </p:nvSpPr>
        <p:spPr>
          <a:xfrm>
            <a:off x="489794" y="1276811"/>
            <a:ext cx="461665" cy="124846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>
            <a:lvl1pPr>
              <a:defRPr b="1">
                <a:solidFill>
                  <a:schemeClr val="bg1"/>
                </a:solidFill>
                <a:latin typeface="Abadi" panose="020F0502020204030204" pitchFamily="34" charset="0"/>
              </a:defRPr>
            </a:lvl1pPr>
          </a:lstStyle>
          <a:p>
            <a:r>
              <a:rPr lang="zh-CN" altLang="en-US" dirty="0"/>
              <a:t>地 块 管 理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A06B0CFF-8E4A-4FB2-1DBD-208A91CB9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74" y="1237196"/>
            <a:ext cx="3269088" cy="1777567"/>
          </a:xfrm>
          <a:prstGeom prst="rect">
            <a:avLst/>
          </a:prstGeom>
        </p:spPr>
      </p:pic>
      <p:sp>
        <p:nvSpPr>
          <p:cNvPr id="34" name="Shape 6">
            <a:extLst>
              <a:ext uri="{FF2B5EF4-FFF2-40B4-BE49-F238E27FC236}">
                <a16:creationId xmlns:a16="http://schemas.microsoft.com/office/drawing/2014/main" id="{A9D0C4CF-8D61-5269-9BFD-6C614D37454E}"/>
              </a:ext>
            </a:extLst>
          </p:cNvPr>
          <p:cNvSpPr/>
          <p:nvPr/>
        </p:nvSpPr>
        <p:spPr>
          <a:xfrm>
            <a:off x="4745285" y="1237198"/>
            <a:ext cx="344214" cy="1777567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E3DA9E1-60BB-164F-0B64-4C15AAB74BD3}"/>
              </a:ext>
            </a:extLst>
          </p:cNvPr>
          <p:cNvSpPr txBox="1"/>
          <p:nvPr/>
        </p:nvSpPr>
        <p:spPr>
          <a:xfrm>
            <a:off x="4682720" y="1276811"/>
            <a:ext cx="461665" cy="124846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>
            <a:lvl1pPr>
              <a:defRPr b="1">
                <a:solidFill>
                  <a:schemeClr val="bg1"/>
                </a:solidFill>
                <a:latin typeface="Abadi" panose="020F0502020204030204" pitchFamily="34" charset="0"/>
              </a:defRPr>
            </a:lvl1pPr>
          </a:lstStyle>
          <a:p>
            <a:r>
              <a:rPr lang="zh-CN" altLang="en-US" dirty="0"/>
              <a:t>财 务 管 理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6CF43EBD-1B94-EAD0-1648-500D49E3D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00" y="1237198"/>
            <a:ext cx="3269088" cy="1777567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A967FA27-C4AA-60FB-A797-D85B02EE6A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627" y="3108959"/>
            <a:ext cx="3269067" cy="1777555"/>
          </a:xfrm>
          <a:prstGeom prst="rect">
            <a:avLst/>
          </a:prstGeom>
        </p:spPr>
      </p:pic>
      <p:sp>
        <p:nvSpPr>
          <p:cNvPr id="44" name="Shape 6">
            <a:extLst>
              <a:ext uri="{FF2B5EF4-FFF2-40B4-BE49-F238E27FC236}">
                <a16:creationId xmlns:a16="http://schemas.microsoft.com/office/drawing/2014/main" id="{CCE876C1-B033-36B5-B93A-6F74E0E1ED20}"/>
              </a:ext>
            </a:extLst>
          </p:cNvPr>
          <p:cNvSpPr/>
          <p:nvPr/>
        </p:nvSpPr>
        <p:spPr>
          <a:xfrm>
            <a:off x="559413" y="3108958"/>
            <a:ext cx="344214" cy="1777567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38CE6A2-9429-22B2-DD7B-7B211A2D961F}"/>
              </a:ext>
            </a:extLst>
          </p:cNvPr>
          <p:cNvSpPr txBox="1"/>
          <p:nvPr/>
        </p:nvSpPr>
        <p:spPr>
          <a:xfrm>
            <a:off x="496848" y="3148571"/>
            <a:ext cx="461665" cy="124846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>
            <a:lvl1pPr>
              <a:defRPr b="1">
                <a:solidFill>
                  <a:schemeClr val="bg1"/>
                </a:solidFill>
                <a:latin typeface="Abadi" panose="020F0502020204030204" pitchFamily="34" charset="0"/>
              </a:defRPr>
            </a:lvl1pPr>
          </a:lstStyle>
          <a:p>
            <a:r>
              <a:rPr lang="zh-CN" altLang="en-US" dirty="0"/>
              <a:t>农 事 日 历</a:t>
            </a:r>
          </a:p>
        </p:txBody>
      </p:sp>
      <p:sp>
        <p:nvSpPr>
          <p:cNvPr id="48" name="Shape 6">
            <a:extLst>
              <a:ext uri="{FF2B5EF4-FFF2-40B4-BE49-F238E27FC236}">
                <a16:creationId xmlns:a16="http://schemas.microsoft.com/office/drawing/2014/main" id="{692D086E-FF33-A59F-2767-0810D6121038}"/>
              </a:ext>
            </a:extLst>
          </p:cNvPr>
          <p:cNvSpPr/>
          <p:nvPr/>
        </p:nvSpPr>
        <p:spPr>
          <a:xfrm>
            <a:off x="4745286" y="3108947"/>
            <a:ext cx="344214" cy="1777567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5191F79-054B-22EC-5348-8DA9DF878F19}"/>
              </a:ext>
            </a:extLst>
          </p:cNvPr>
          <p:cNvSpPr txBox="1"/>
          <p:nvPr/>
        </p:nvSpPr>
        <p:spPr>
          <a:xfrm>
            <a:off x="4682721" y="3148560"/>
            <a:ext cx="461665" cy="124846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>
            <a:lvl1pPr>
              <a:defRPr b="1">
                <a:solidFill>
                  <a:schemeClr val="bg1"/>
                </a:solidFill>
                <a:latin typeface="Abadi" panose="020F0502020204030204" pitchFamily="34" charset="0"/>
              </a:defRPr>
            </a:lvl1pPr>
          </a:lstStyle>
          <a:p>
            <a:r>
              <a:rPr lang="zh-CN" altLang="en-US" dirty="0"/>
              <a:t>种 植 向 导</a:t>
            </a: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9CB841DF-E79B-976B-BFD5-07F9C44C4A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9500" y="3108947"/>
            <a:ext cx="3269108" cy="1777578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5D57786B-8F7C-9783-61F5-854D7171D201}"/>
              </a:ext>
            </a:extLst>
          </p:cNvPr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六项核心创新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技术亮点总结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1417320"/>
            <a:ext cx="1353312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82880" y="1417320"/>
            <a:ext cx="1353312" cy="54864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82880" y="157276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8600" y="208483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LLM自主决策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" y="2487168"/>
            <a:ext cx="12618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分析·推理·评估·执行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auto_execute/need_confirm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决策全量写入日志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64208" y="1417320"/>
            <a:ext cx="1353312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1664208" y="1417320"/>
            <a:ext cx="1353312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64208" y="157276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709928" y="208483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软硬件协同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09928" y="2487168"/>
            <a:ext cx="12618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MQTT设备控制+摄像头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巡检双链路闭环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手动/自动双模控制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45536" y="1417320"/>
            <a:ext cx="1353312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145536" y="1417320"/>
            <a:ext cx="1353312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145536" y="157276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191256" y="208483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三级降级分类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91256" y="2487168"/>
            <a:ext cx="12618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关键词→LLM推理→兜底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70%首级命中·&lt;10ms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100%意图覆盖率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26864" y="1417320"/>
            <a:ext cx="1353312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626864" y="1417320"/>
            <a:ext cx="1353312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626864" y="157276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672584" y="208483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多Agent联动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72584" y="2487168"/>
            <a:ext cx="12618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Agent·Orchestrator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统一调度·任务并行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Agent间信息自动共享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08192" y="1417320"/>
            <a:ext cx="1353312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108192" y="1417320"/>
            <a:ext cx="1353312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108192" y="157276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🌱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153912" y="208483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智能种植引擎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53912" y="2487168"/>
            <a:ext cx="12618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三步向导一键生成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生长阶段自动推进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多方案对比·轮作建议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89520" y="1417320"/>
            <a:ext cx="1353312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7589520" y="1417320"/>
            <a:ext cx="1353312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589520" y="157276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7635240" y="208483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长记忆架构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35240" y="2487168"/>
            <a:ext cx="12618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每3轮自动总结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用户档案持久化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跨会话恢复·FAISS索引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0" y="-182880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总结与展望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188720" cy="36576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当前成果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种意图精准识别，三级降级 100% 覆盖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个专业 Agent 通过 Orchestrator 统一调度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自主决策引擎 + 软硬件双链路协同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种植向导三步生成 + 多方案对比评分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双索引 + 长记忆 + 跨会话恢复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后续规划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620486"/>
            <a:ext cx="3840480" cy="1742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spcAft>
                <a:spcPts val="800"/>
              </a:spcAft>
              <a:buSzPct val="100000"/>
            </a:pP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引入强化学习优化 Agent 决策策略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多模态能力扩展（视频流、语音交互）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移动端适配 + 农场管理 SaaS 化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多租户架构 · 数据隔离 · 规模化部署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281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1334</Words>
  <Application>Microsoft Office PowerPoint</Application>
  <PresentationFormat>全屏显示(16:9)</PresentationFormat>
  <Paragraphs>500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0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智能种植规划助手 - 技术答辩</dc:title>
  <dc:subject>PptxGenJS Presentation</dc:subject>
  <dc:creator>智能种植规划助手团队</dc:creator>
  <cp:lastModifiedBy>嘉琪 杨</cp:lastModifiedBy>
  <cp:revision>5</cp:revision>
  <dcterms:created xsi:type="dcterms:W3CDTF">2026-06-20T02:04:45Z</dcterms:created>
  <dcterms:modified xsi:type="dcterms:W3CDTF">2026-06-22T09:29:45Z</dcterms:modified>
</cp:coreProperties>
</file>